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608" y="0"/>
            <a:ext cx="3429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0000" y="200000"/>
            <a:ext cx="49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64646"/>
                </a:solidFill>
                <a:latin typeface="Calibri"/>
              </a:rPr>
              <a:t>Министерство науки и высшего образования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64646"/>
                </a:solidFill>
                <a:latin typeface="Calibri"/>
              </a:rPr>
              <a:t>Российской Федерации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64646"/>
                </a:solidFill>
                <a:latin typeface="Calibri"/>
              </a:rPr>
              <a:t>ФГБОУ ВО «Оренбургский государственный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64646"/>
                </a:solidFill>
                <a:latin typeface="Calibri"/>
              </a:rPr>
              <a:t>университет имени В. А. Бондаренко»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64646"/>
                </a:solidFill>
                <a:latin typeface="Calibri"/>
              </a:rPr>
              <a:t>Институт математики и информационных технологий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464646"/>
                </a:solidFill>
                <a:latin typeface="Calibri"/>
              </a:rPr>
              <a:t>Кафедра прикладной математики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175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42850"/>
                </a:solidFill>
                <a:latin typeface="Calibri"/>
              </a:rPr>
              <a:t>КУРСОВАЯ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2150000"/>
            <a:ext cx="4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73737"/>
                </a:solidFill>
                <a:latin typeface="Calibri"/>
              </a:rPr>
              <a:t>по дисциплине «Машинное обучение»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" y="2550000"/>
            <a:ext cx="5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Calibri"/>
              </a:rPr>
              <a:t>Применение методов машинного обучения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Calibri"/>
              </a:rPr>
              <a:t>для автоматической классификации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41414"/>
                </a:solidFill>
                <a:latin typeface="Calibri"/>
              </a:rPr>
              <a:t>и анализа тональности отзывов клиентов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3950000"/>
            <a:ext cx="4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23232"/>
                </a:solidFill>
                <a:latin typeface="Calibri"/>
              </a:rPr>
              <a:t>Автор: студент группы 25ИСТ(м)ИИП — Решетов Е. В.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23232"/>
                </a:solidFill>
                <a:latin typeface="Calibri"/>
              </a:rPr>
              <a:t>Руководитель: канд. техн. наук, доцент С. Т. Дусакаева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323232"/>
                </a:solidFill>
                <a:latin typeface="Calibri"/>
              </a:rPr>
              <a:t>Оренбург,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90403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575" y="4791026"/>
            <a:ext cx="2686425" cy="6417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00000" y="350000"/>
            <a:ext cx="5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Актуальность и цель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000" y="1000000"/>
            <a:ext cx="58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Поток клиентских отзывов слишком велик для единообразной ручной разметки.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Автоматическая тональность нужна для маршрутизации негативных обращений.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Русский язык требует учёта морфологии, отрицаний и возможного шума меток.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Цель — сравнительное исследование методов ML для трёхклассовой классификации тональности на корпусе RuReviews.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Задачи: обзор методов; постановка задачи; эксперимент со сравнением моделей; анализ результатов и ограничений.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75" y="4791026"/>
            <a:ext cx="2686425" cy="641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0000" y="18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Данные: корпус RuReviews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600000"/>
            <a:ext cx="8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Русскоязычные отзывы о товарах (женская одежда и аксессуары); исходных записей: 90000.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После очистки: 86257 (коротких: 178, дубликатов: 3565).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Классы: негатив 28833, нейтрально 28414, позитив 29010.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Разбиение 60/20/20: 51753 / 17252 / 17252; в модель — только текст.</a:t>
            </a:r>
          </a:p>
        </p:txBody>
      </p:sp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0" y="2100000"/>
            <a:ext cx="6900000" cy="41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0000" y="4650000"/>
            <a:ext cx="6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Рисунок 1 – Распределение классов после очистки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75" y="4791026"/>
            <a:ext cx="2686425" cy="641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0000" y="300000"/>
            <a:ext cx="82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Методы и протокол эксперимента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900000"/>
            <a:ext cx="82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Векторизация: TF-IDF (словные n-граммы 1–2; для LinearSVC — символьные 3–5).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Модели: Dummy, MultinomialNB, LogisticRegression, LinearSVC, Random Forest, MLP.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Подбор гиперпараметров только по validation macro-F1; словарь TF-IDF — внутри Pipeline.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Финальное обучение на train+validation; итоговая оценка — один раз на test.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Дополнительно: матрица ошибок, топ-признаки, сигмоидальная калибровка вероятностей.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90403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575" y="4791026"/>
            <a:ext cx="2686425" cy="6417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0000" y="350000"/>
            <a:ext cx="5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Метрики качества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0000" y="1000000"/>
            <a:ext cx="57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Accuracy — доля всех верных ответов.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Macro-F1 — основная метрика (равный вес трёх классов).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Precision / Recall — анализ ошибок по классам.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ROC-AUC (OvR, macro) — качество ранжирования вероятностей.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Log loss / Brier score — качество вероятностных оценок.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•  F1 = 2 · (Precision · Recall) / (Precision + Recall).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75" y="4791026"/>
            <a:ext cx="2686425" cy="641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0000" y="22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Результаты сравнения моделей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0000" y="800000"/>
          <a:ext cx="8200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000"/>
                <a:gridCol w="1640000"/>
                <a:gridCol w="1640000"/>
                <a:gridCol w="1640000"/>
                <a:gridCol w="1640000"/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91919"/>
                          </a:solidFill>
                          <a:latin typeface="Calibri"/>
                        </a:rPr>
                        <a:t>Log loss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LogisticRegression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0,581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LinearSVC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0,647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MultinomialNB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0,638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0,606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0,724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Dummy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0,497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91919"/>
                          </a:solidFill>
                          <a:latin typeface="Calibri"/>
                        </a:rPr>
                        <a:t>24,150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0000" y="3750000"/>
            <a:ext cx="8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32323"/>
                </a:solidFill>
                <a:latin typeface="Calibri"/>
              </a:rPr>
              <a:t>Таблица 1 – Метрики на отложенном тесте.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32323"/>
                </a:solidFill>
                <a:latin typeface="Calibri"/>
              </a:rPr>
              <a:t>Лучшая модель — LogisticRegression: accuracy = 0,749, macro-F1 = 0,750, ROC-AUC = 0,898.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75" y="4791026"/>
            <a:ext cx="2686425" cy="641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00" y="20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42850"/>
                </a:solidFill>
                <a:latin typeface="Calibri"/>
              </a:rPr>
              <a:t>Матрица ошибок лучшей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750000"/>
            <a:ext cx="47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Правильно: негатив 4 066, нейтрально 3 887, позитив 4 976.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Основная ошибка — смешение с нейтральным классом.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Путаница крайних классов (негатив ↔ позитив) невелика.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Позитив: F1 ≈ 0,870; нейтраль: F1 ≈ 0,655.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Часть высокоуверенных ошибок связана с шумом меток рейтинга.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000" y="700000"/>
            <a:ext cx="3600000" cy="30461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00000" y="430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Рисунок 2 – Матрица ошибок LogisticRegression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75" y="4791026"/>
            <a:ext cx="2686425" cy="641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00" y="18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Интерпретация признаков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650000"/>
            <a:ext cx="8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Коэффициенты логистической регрессии согласуются с тональной лексикой.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Негатив — отрицания и сильная негативная оценка; позитив — благодарность и высокая оценка.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Интерпретируемость линейной модели — практическое преимущество перед «чёрным ящиком».</a:t>
            </a:r>
          </a:p>
        </p:txBody>
      </p:sp>
      <p:pic>
        <p:nvPicPr>
          <p:cNvPr id="5" name="Picture 4" descr="top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1850000"/>
            <a:ext cx="7900000" cy="33857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4550000"/>
            <a:ext cx="79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Рисунок 3 – Наиболее значимые n-граммы LogisticRegression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75" y="4791026"/>
            <a:ext cx="2686425" cy="641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00" y="180000"/>
            <a:ext cx="8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Калибровка вероятностей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650000"/>
            <a:ext cx="8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Brier до калибровки: 0,3430; после sigmoid CV: 0,3459.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Log loss: 0,5813 → 0,5860.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Посткалибровка ухудшила метрики и отклонена; исходные вероятности LogReg уже близки к диагонали.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82828"/>
                </a:solidFill>
                <a:latin typeface="Calibri"/>
              </a:rPr>
              <a:t>•  На практике: пороги уверенности + ручная проверка спорных случаев.</a:t>
            </a:r>
          </a:p>
        </p:txBody>
      </p:sp>
      <p:pic>
        <p:nvPicPr>
          <p:cNvPr id="5" name="Picture 4" descr="calibratio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2000000"/>
            <a:ext cx="7700000" cy="24257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0000" y="4550000"/>
            <a:ext cx="7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Рисунок 4 – Калибровочные кривые до и после постобработки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90403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575" y="4791026"/>
            <a:ext cx="2686425" cy="641708"/>
          </a:xfrm>
          <a:prstGeom prst="rect">
            <a:avLst/>
          </a:prstGeom>
        </p:spPr>
      </p:pic>
      <p:pic>
        <p:nvPicPr>
          <p:cNvPr id="4" name="Picture 3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0" y="900000"/>
            <a:ext cx="2342105" cy="32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00000" y="300000"/>
            <a:ext cx="43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42850"/>
                </a:solidFill>
                <a:latin typeface="Calibri"/>
              </a:rPr>
              <a:t>Заключение и практическая значимость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0" y="900000"/>
            <a:ext cx="43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Лучшая модель — LogisticRegression: macro-F1 = 0,750, ROC-AUC = 0,898.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Линейная модель превзошла Random Forest и MLP на выбранном протоколе.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Наиболее сложен нейтральный класс; сигмоидальная калибровка не потребовалась.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Применение: маршрутизация негативных отзывов в поддержку интернет-магазина.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Далее: внешняя проверка на другом домене и сравнение с RuBERT.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75" y="4791026"/>
            <a:ext cx="2686425" cy="6417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0000" y="300000"/>
            <a:ext cx="82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42850"/>
                </a:solidFill>
                <a:latin typeface="Calibri"/>
              </a:rPr>
              <a:t>Список использованных источников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" y="900000"/>
            <a:ext cx="82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Smetanin S., Komarov M. Sentiment Analysis of Product Reviews in Russian… IEEE CBI, 2019.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Salton G., Buckley C. Term-weighting approaches in automatic text retrieval. 1988.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Cortes C., Vapnik V. Support-vector networks. Machine Learning, 1995.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Devlin J. et al. BERT… NAACL-HLT, 2019.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Pedregosa F. et al. Scikit-learn: Machine Learning in Python. JMLR, 2011.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Breiman L. Random Forests. Machine Learning, 2001; Hastie et al. ESL, 2009.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